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4973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two rows of logos: top the three regulators (EU AI Act, DORA, FCA), bottom the three tools (garak, AgentDojo, PyRIT). Land the line: you're probably already doing the red-teaming, you're just not producing the evidence. This is the Phase 5 sequel to the four-phase app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 applicable Jan 2025; FCA transition closed Mar 2025; EU AI Act robustness/cybersecurity for high-risk on the same timeline. The shift is from running attacks to operating a control. Pause on 'you're just not producing the evidence.'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W&amp;B framing. The engine we built is the Assess stage of a wider review gate. Saying that out loud keeps us honest: automation does not replace human review or legal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Art. 15(4) covers feedback loops; 15(5) is the cybersecurity/adversarial half. Art. 55 reaches systemic-risk GPAI from a second direction. Flag the word 'document' — it pays off on the artifact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before the audience is: CI is continuous assurance between formal TLPT exercises. The third-party point is the one people forget — Bedrock is in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bridge to the gate. Land the sentence 'impact tolerance is just a maximum attack-success rate' and the architecture feels inevitable.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toolkit maps NIST AI RMF and EU AI Act onto a shared MIT-based risk taxonomy. Same idea here: one finding, many lenses. Our compliance.py encodes EU AI Act/DORA/FCA; NIST and MIT are the obvious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garak and PyRIT they may know; AgentDojo is usually the unknown — and it ships as an Inspect eval, so it plugs into the earlier evaluation phases. It was extended by US AISI with UK AISI (verify against current inspect_evals docs).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PyRIT is not new here. Two traps: v0.13 renamed the core abstractions, and the outcome inversion — SUCCESS = refusal detected. This inversion produced Phase 4's headline finding; plant it now, it pays off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right. A trigger fans out to three independent stages, each emitting findings in one shape — ProbeResult(category, attempts, hits). That normalisation is the quiet hero: the mapper and gate never need to know which tool a finding came from, which makes adding a fourth tool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row from an FCA self-assessment next to the DEFAULT_TOLERANCES dict — same concept, one prose, one enforced. Override per run with --fail-under category=rate.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Control literal and the not_evidenced branch. Then the payoff for Art. 55: the artifact this produces is the documentation the regulation asks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review gate is Intake, Scope, Assess, Probe, Decide. We automate Assess. Being explicit about what is NOT automated — intake, risk scoping, human probing — is what makes the talk credible to a governance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non-zero exit land before explaining it. A failing demo is the point — the gate is doing its job. Then open the Markdown artifact: cat .safety_outputs/st-*.md. The arc: Phase 4 found a subtle failure by hand; Phase 5 catches it and documents it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W&amp;B's point: a decision package, not a score. Our Markdown artifact is the lightweight version and doubles as an FCA self-assessment. Position Weave as the production upgrade path for the evidence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→ Pre-deploy → Production is the W&amp;B three-stage view. We own the middle. The feedback loop and the Bedrock port are the concrete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takeaway 2: your regulator does not want your scan, they want your gate. Then Q&amp;A — keep to five minutes, offer to continue offline. Resources: the repo docs plus the W&amp;B e-book the governance framing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7872984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110728" y="411480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348472" y="411480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586216" y="411480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823960" y="411480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35240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72984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110728" y="649224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48472" y="649224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8586216" y="649224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823960" y="649224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635240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872984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110728" y="886968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348472" y="886968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586216" y="886968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823960" y="886968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635240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72984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8110728" y="1124712"/>
            <a:ext cx="109728" cy="109728"/>
          </a:xfrm>
          <a:prstGeom prst="ellipse">
            <a:avLst/>
          </a:prstGeom>
          <a:solidFill>
            <a:srgbClr val="2DD4BF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348472" y="1124712"/>
            <a:ext cx="109728" cy="109728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586216" y="1124712"/>
            <a:ext cx="109728" cy="109728"/>
          </a:xfrm>
          <a:prstGeom prst="ellipse">
            <a:avLst/>
          </a:prstGeom>
          <a:solidFill>
            <a:srgbClr val="2DD4BF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823960" y="1124712"/>
            <a:ext cx="109728" cy="109728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02920" y="1417320"/>
            <a:ext cx="822960" cy="82296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655064"/>
            <a:ext cx="347472" cy="34747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0292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ENGINE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2670048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Safety &amp; Trust Engine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02920" y="35844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red-teaming as a compliance gate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· AgentDojo · PyRIT</a:t>
            </a:r>
            <a:r>
              <a:rPr lang="en-US" sz="12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 Operational Resilience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45720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· 45-minute technical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testing became a legal obligation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12064" y="1163901"/>
            <a:ext cx="2587752" cy="1807899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1276241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Jan 2025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49808" y="177524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084831"/>
            <a:ext cx="2258568" cy="787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applicable across EU financial entities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https://www.eiopa.europa.eu/digital-operational-resilience-act-dora_en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3552" y="1170432"/>
            <a:ext cx="2587752" cy="1801368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474720" y="1276241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Mar 2025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74720" y="1776549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 PS21/3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474720" y="2063277"/>
            <a:ext cx="2185416" cy="851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Operational-resilience transition period closed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https://www.fca.org.uk/publications/policy-statements/ps21-3-building-operational-resilience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44184" y="1170432"/>
            <a:ext cx="2587752" cy="1801368"/>
          </a:xfrm>
          <a:prstGeom prst="roundRect">
            <a:avLst>
              <a:gd name="adj" fmla="val 470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15" name="Text 12"/>
          <p:cNvSpPr/>
          <p:nvPr/>
        </p:nvSpPr>
        <p:spPr>
          <a:xfrm>
            <a:off x="6245352" y="1273629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Art. 15 / 55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181344" y="1779161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4407" y="2090382"/>
            <a:ext cx="2300369" cy="703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Robustness, cybersecurity &amp; documented red-teaming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endParaRPr lang="en-US" sz="1150" dirty="0">
              <a:solidFill>
                <a:srgbClr val="4F6B6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https://artificialintelligenceact.eu/article/15/</a:t>
            </a:r>
          </a:p>
        </p:txBody>
      </p:sp>
      <p:sp>
        <p:nvSpPr>
          <p:cNvPr id="18" name="Shape 15"/>
          <p:cNvSpPr/>
          <p:nvPr/>
        </p:nvSpPr>
        <p:spPr>
          <a:xfrm>
            <a:off x="502920" y="320040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777240" y="334670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regulators, one shared demand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77240" y="365760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testing that is repeatable, evidenced, and remediated. Most teams already run the attacks — a notebook, a one-off run, a screenshot. None of that is evidence. The gap this engine closes is turning red-teaming into something you can prove, on every commit.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one-off scan to a review gate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red-team is a photograph. Compliance needs a CCTV feed — a review gate that connects three things into one durable record: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704088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263140"/>
            <a:ext cx="246888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evidence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4088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probes, scores and traces — the inputs, outputs and results behind each finding.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73552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3474720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9876" y="226314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judgment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474720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expert can probe the same system and pin concerning behaviour as a finding.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44184" y="1965960"/>
            <a:ext cx="2587752" cy="1874520"/>
          </a:xfrm>
          <a:prstGeom prst="roundRect">
            <a:avLst>
              <a:gd name="adj" fmla="val 39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3"/>
          <p:cNvSpPr/>
          <p:nvPr/>
        </p:nvSpPr>
        <p:spPr>
          <a:xfrm>
            <a:off x="6245352" y="2157984"/>
            <a:ext cx="457200" cy="45720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508" y="2263140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45352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record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245352" y="3035808"/>
            <a:ext cx="2185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request changes — with rationale, remediation and evidence links.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02920" y="40782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is the automated heart of that gate — extracted from the app's Phase 5 into its own standalone repo.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02920" y="444398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1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 — Article 15 (and 55)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accuracy, robustness and cybersecurity, consistent across the lifecycle.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15(5)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against unauthorised third parties exploiting vulnerabilities — incl. data poisoning and adversarial inputs.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55(1)(a)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GPAI with systemic risk must conduct and document adversarial testing (red-teaming).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“document” is the hook — our evidence artifact is that documentation.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2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 — testing and third-party pillars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24–25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resilience testing: vulnerability assessments, independent testers, all critical tools tested ≥ annually.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26–27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Threat-led penetration testing (TLPT) ≥ every 3 years, simulating real-world threat actors.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third-party risk — AWS Bedrock is an ICT third party, in scope of testing and the register.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CI run is continuous assurance — not a substitute for formal TLPT.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BACKDROP · 3 OF 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PS21/3 — operational resilience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67512" y="1618488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67512" y="1618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business service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2148840" y="155448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dependency of an important business service whose disruption can cause intolerable harm.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67512" y="2514600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67512" y="251460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148840" y="245059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tolerable disruption — tested under severe-but-plausible scenarios.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667512" y="3410712"/>
            <a:ext cx="1325880" cy="475488"/>
          </a:xfrm>
          <a:prstGeom prst="roundRect">
            <a:avLst>
              <a:gd name="adj" fmla="val 11538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67512" y="3410712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148840" y="33467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evidencing resilience and remediation.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4187952"/>
            <a:ext cx="8138160" cy="502920"/>
          </a:xfrm>
          <a:prstGeom prst="rect">
            <a:avLst/>
          </a:prstGeom>
          <a:solidFill>
            <a:srgbClr val="0B2E29"/>
          </a:solidFill>
          <a:ln/>
        </p:spPr>
        <p:txBody>
          <a:bodyPr wrap="square" lIns="1524" tIns="1524" rIns="1524" bIns="1524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translation: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tolerance is just a maximum acceptable attack-success rate.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MAPPING PRINCIPLE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 of evidence, multiple regulatory lenses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red-team finding is mapped to a control. The same finding can satisfy several regimes at once — you gather evidence once and read it through multiple lenses.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154680" y="2148840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3154680" y="21488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 probe → hit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 flipH="1">
            <a:off x="1298448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539496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39496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39496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15(5)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 flipH="1">
            <a:off x="2935224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2176272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2176272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176272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Art. 24–25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2807208"/>
            <a:ext cx="0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813048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3813048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3813048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2807208"/>
            <a:ext cx="1636776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5449824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49824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49824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2.7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0" y="2807208"/>
            <a:ext cx="3273552" cy="393192"/>
          </a:xfrm>
          <a:prstGeom prst="line">
            <a:avLst/>
          </a:prstGeom>
          <a:noFill/>
          <a:ln w="1905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3"/>
          <p:cNvSpPr/>
          <p:nvPr/>
        </p:nvSpPr>
        <p:spPr>
          <a:xfrm>
            <a:off x="7086600" y="320040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7086600" y="331012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AI Risk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086600" y="3602736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Misuse / security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42611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 today: </a:t>
            </a: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· DORA · FCA. 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 and the MIT AI Risk Repository are the natural next lenses.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02920" y="4535424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red-team libraries, three blind spots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Single-turn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endpoint scanning — the pre-deploy “nmap for LLMs.”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through untrusted tool data — the agent-specific threat.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PyRIT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Orchestrated, stateful attack campaigns — decoupled; red-team an agent via an injected target.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passes a garak scan can still be hijacked through a tool result, or coerced over several turns. No single tool is enough.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ALREADY 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PyRIT carry-over, decoupled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627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wholesale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1956816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AgentFrameworkTarget(PromptTarget)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~20 lines of PyRIT-specific code we own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PromptSendingAttack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SelfAskRefusalScorer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target_factory to red-team any agent — the rest is unchanged.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2697480"/>
          </a:xfrm>
          <a:prstGeom prst="roundRect">
            <a:avLst>
              <a:gd name="adj" fmla="val 2712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37760" y="1682496"/>
            <a:ext cx="457200" cy="457200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937760" y="1682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48640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 that carries over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23317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SelfAskRefusalScorer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means the refusal was detected.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agent behaving well — not a jailbreak.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normalises a “hit” as a non-refusal.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stages → mapper → gate</a:t>
            </a:r>
            <a:endParaRPr lang="en-US" sz="2700" dirty="0"/>
          </a:p>
        </p:txBody>
      </p:sp>
      <p:pic>
        <p:nvPicPr>
          <p:cNvPr id="6" name="Image 1" descr="/home/claude/deck/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08760"/>
            <a:ext cx="8046720" cy="3017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tolerance, made numeric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probe category carries a maximum acceptable attack-success rate (ASR). The build fails if any category exceeds it — stricter where the blast radius is larger.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3317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FCA impact tolerance</a:t>
            </a:r>
            <a:endParaRPr lang="en-US" sz="1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4F6B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attack-success rate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 same control, executable in CI.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40680" y="11247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5F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DEFAULT_TOLERANCES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40680" y="141732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60527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harmful_action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91272" y="149047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891272" y="149047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40680" y="19110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605272" y="19110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tool_injection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91272" y="1984248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7891272" y="1984248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40680" y="240487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605272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data_leakage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91272" y="2478024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BE4A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91272" y="2478024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40680" y="28986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605272" y="28986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891272" y="2971800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7891272" y="2971800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40680" y="339242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605272" y="3392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prompt_injection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891272" y="3465576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7891272" y="3465576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40680" y="388620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5605272" y="3886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toxicity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891272" y="3959352"/>
            <a:ext cx="585216" cy="310896"/>
          </a:xfrm>
          <a:prstGeom prst="roundRect">
            <a:avLst>
              <a:gd name="adj" fmla="val 14706"/>
            </a:avLst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7891272" y="395935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mapping in code — compliance.py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58952" y="1664208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Control(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regulation="EU AI Act",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ref="Art. 15(5)",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stages=(GARAK, AGENTDOJO, PYRIT),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categories=("prompt_injection",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"tool_injection", "jailbreak"),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577840" y="14630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5760720" y="1645920"/>
            <a:ext cx="420624" cy="420624"/>
          </a:xfrm>
          <a:prstGeom prst="ellipse">
            <a:avLst/>
          </a:prstGeom>
          <a:solidFill>
            <a:srgbClr val="2E9A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174193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every evidencing stage ran and stayed within tolerance.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577840" y="2377440"/>
            <a:ext cx="3063240" cy="804672"/>
          </a:xfrm>
          <a:prstGeom prst="roundRect">
            <a:avLst>
              <a:gd name="adj" fmla="val 9091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5760720" y="2560320"/>
            <a:ext cx="420624" cy="420624"/>
          </a:xfrm>
          <a:prstGeom prst="ellipse">
            <a:avLst/>
          </a:prstGeom>
          <a:solidFill>
            <a:srgbClr val="C98A2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265633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7648" y="24505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not_evidenced  </a:t>
            </a: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stage was skipped — never silently “pass.”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577840" y="329184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5779008" y="341985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Phase-3 guard, again: </a:t>
            </a:r>
            <a:r>
              <a:rPr lang="en-US" sz="115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you didn’t test must never render as one you passed.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SITS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review gate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3949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04241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04241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3949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profile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02082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218541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268833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68833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54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24028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· datasets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6674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383133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4334256" y="19659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33425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3133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88620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· scorers · policy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1266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547725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598017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598017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47725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53212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958584" y="2468880"/>
            <a:ext cx="164592" cy="0"/>
          </a:xfrm>
          <a:prstGeom prst="line">
            <a:avLst/>
          </a:prstGeom>
          <a:noFill/>
          <a:ln w="2540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7"/>
          <p:cNvSpPr/>
          <p:nvPr/>
        </p:nvSpPr>
        <p:spPr>
          <a:xfrm>
            <a:off x="7123176" y="178308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7626096" y="1965960"/>
            <a:ext cx="475488" cy="475488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626096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12317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178040" y="27889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record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02920" y="345643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0B2E29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777240" y="3456432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engine automates stage 3 (Assess) and feeds stage 5 (Decide). </a:t>
            </a:r>
            <a:r>
              <a:rPr lang="en-US" sz="12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Scope and human Probe are the governance wrapper around it — people and policy, not code.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02920" y="437083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2BB89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blocks a merge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074920" cy="3291840"/>
          </a:xfrm>
          <a:prstGeom prst="roundRect">
            <a:avLst>
              <a:gd name="adj" fmla="val 1667"/>
            </a:avLst>
          </a:prstGeom>
          <a:solidFill>
            <a:srgbClr val="07211D"/>
          </a:solidFill>
          <a:ln w="12700">
            <a:solidFill>
              <a:srgbClr val="0B5F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48132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safety-engine --demo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[garak    ] ran: 5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[agentdojo] ran: 4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[pyrit    ] ran: 4 probes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tolerance gate: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data_leakage      5%  (tol 5%)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E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[ok  ] jailbreak         5%  (tol 10%)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prompt_injection 15%  (tol 10%)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[FAIL] tool_injection   13%  (tol 5%)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8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FAIL</a:t>
            </a:r>
            <a:r>
              <a:rPr lang="en-US" sz="1150" dirty="0">
                <a:solidFill>
                  <a:srgbClr val="9CC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exit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finding, brought forward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32120" y="17556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failing category is prompt_injection — the same delayed-compliance case a human would surface only by hand: the agent refuses, then appends an override to a tool argument.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3212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finds it once. </a:t>
            </a:r>
            <a:r>
              <a:rPr lang="en-US" sz="13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catches it for you — and proves you caught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as a decision package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0292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not just pass or fail. Each run writes a decision package the app team can act on and the governance team can revisit.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49224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· request changes · reject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69464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2715768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gate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15768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ASR vs tolerance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36008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782312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782312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status per regime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02552" y="1938528"/>
            <a:ext cx="1947672" cy="1234440"/>
          </a:xfrm>
          <a:prstGeom prst="roundRect">
            <a:avLst>
              <a:gd name="adj" fmla="val 592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6848856" y="208483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48856" y="2468880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breaching controls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346704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777240" y="3346704"/>
            <a:ext cx="7589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JSON + Markdown artifact in runs/.   </a:t>
            </a:r>
            <a:r>
              <a:rPr lang="en-US" sz="120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</a:t>
            </a: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record like W&amp;B Weave — traces, scorer evidence, release comparisons and production monitoring in one place.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2920" y="4425696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adapted from Weights &amp; Biases — “Governance workflows for AI agents.”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0292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traces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97180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0E7C6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33756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Pre-deployment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33756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1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(today)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125980"/>
            <a:ext cx="365760" cy="0"/>
          </a:xfrm>
          <a:prstGeom prst="line">
            <a:avLst/>
          </a:prstGeom>
          <a:noFill/>
          <a:ln w="31750">
            <a:solidFill>
              <a:srgbClr val="D5E7E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172200" y="1801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172200" y="22037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+ drift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27889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traces feed back as new evaluation rows, new probes, and triggers for reassessment — the same evidence loop, running after deployment.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85800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3625596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216152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target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85800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provider to PYRIT_BUILDABLE_PROVIDERS or inject a target_factory; only the LIVE SEAM changes.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273552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3456432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2444" y="362559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986784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probe stage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3456432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reviewer-pinned findings to the decision record.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044184" y="3383280"/>
            <a:ext cx="2587752" cy="1143000"/>
          </a:xfrm>
          <a:prstGeom prst="roundRect">
            <a:avLst>
              <a:gd name="adj" fmla="val 6400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27064" y="3547872"/>
            <a:ext cx="402336" cy="402336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3076" y="362559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757416" y="3529584"/>
            <a:ext cx="1719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lenses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227064" y="395020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NIST AI RMF and MIT AI Risk categories into the mapper.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57784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95528" y="4023360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33272" y="4023360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271016" y="4023360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508760" y="4023360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20040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57784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95528" y="4261104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33272" y="4261104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271016" y="4261104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508760" y="4261104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57784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5528" y="4498848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033272" y="4498848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271016" y="4498848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508760" y="4498848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20040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57784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95528" y="4736592"/>
            <a:ext cx="109728" cy="109728"/>
          </a:xfrm>
          <a:prstGeom prst="ellipse">
            <a:avLst/>
          </a:prstGeom>
          <a:solidFill>
            <a:srgbClr val="2DD4B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033272" y="4736592"/>
            <a:ext cx="109728" cy="109728"/>
          </a:xfrm>
          <a:prstGeom prst="ellipse">
            <a:avLst/>
          </a:prstGeom>
          <a:solidFill>
            <a:srgbClr val="2DD4BF">
              <a:alpha val="1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1271016" y="4736592"/>
            <a:ext cx="109728" cy="109728"/>
          </a:xfrm>
          <a:prstGeom prst="ellipse">
            <a:avLst/>
          </a:prstGeom>
          <a:solidFill>
            <a:srgbClr val="2DD4BF">
              <a:alpha val="2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508760" y="4736592"/>
            <a:ext cx="109728" cy="109728"/>
          </a:xfrm>
          <a:prstGeom prst="ellipse">
            <a:avLst/>
          </a:prstGeom>
          <a:solidFill>
            <a:srgbClr val="2DD4BF">
              <a:alpha val="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914400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02920" y="914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52728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is now regulated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52728" y="119786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Act, DORA and FCA all demand repeatable, documented adversarial testing — one control, three vocabularies.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" y="1847088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029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52728" y="18013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gate, not the scan, is the deliverable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252728" y="213055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produces findings; an engine produces a verdict, an audit artifact, and a remediation list.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2779776"/>
            <a:ext cx="548640" cy="548640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02920" y="27797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252728" y="273405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tools, three blind spots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252728" y="3063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for breadth, AgentDojo for tool injection, PyRIT for multi-turn — each catches what the others miss.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2920" y="3822192"/>
            <a:ext cx="8138160" cy="0"/>
          </a:xfrm>
          <a:prstGeom prst="line">
            <a:avLst/>
          </a:prstGeom>
          <a:noFill/>
          <a:ln w="12700">
            <a:solidFill>
              <a:srgbClr val="0B5F4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502920" y="39684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</a:t>
            </a:r>
            <a:r>
              <a:rPr lang="en-US" sz="1050" dirty="0">
                <a:solidFill>
                  <a:srgbClr val="9CC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docs/REGULATORY_RESEARCH.md · docs/pipeline.svg · docs/safety_trust_engine_cicd_pipeline.svg · .github/workflows/safety-trust.yml · docs/HANDOVER.md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Salvador Huertas Romero — Senior AI/ML Engineer        Questions?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93776" cy="493776"/>
          </a:xfrm>
          <a:prstGeom prst="ellipse">
            <a:avLst/>
          </a:prstGeom>
          <a:solidFill>
            <a:srgbClr val="0E7C66"/>
          </a:solidFill>
          <a:ln/>
          <a:effectLst>
            <a:outerShdw blurRad="63500" dist="25400" dir="5400000" algn="bl" rotWithShape="0">
              <a:srgbClr val="0B2E29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512064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9576" y="5669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now runs end-to-end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4475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685800" y="160934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73278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garak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37160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00400" y="170078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3200400" y="17007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engine= routing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26280" y="153619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filter blocks DAN (jailbreak 0%); base64 bypasses ~60% → gate FAIL.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40487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85800" y="256946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692908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5146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AgentDojo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371600" y="2862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eval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66090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3200400" y="266090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+ ingest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26280" y="249631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injection_task_scorer parsed from a real .eval; ingest pre-run logs via --agentdojo-logs.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2920" y="3364992"/>
            <a:ext cx="8138160" cy="841248"/>
          </a:xfrm>
          <a:prstGeom prst="roundRect">
            <a:avLst>
              <a:gd name="adj" fmla="val 8696"/>
            </a:avLst>
          </a:prstGeom>
          <a:solidFill>
            <a:srgbClr val="F1F8F6"/>
          </a:solidFill>
          <a:ln w="12700">
            <a:solidFill>
              <a:srgbClr val="D5E7E1"/>
            </a:solidFill>
            <a:prstDash val="solid"/>
          </a:ln>
          <a:effectLst>
            <a:outerShdw blurRad="76200" dist="25400" dir="5400000" algn="bl" rotWithShape="0">
              <a:srgbClr val="0B2E29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85800" y="3529584"/>
            <a:ext cx="512064" cy="512064"/>
          </a:xfrm>
          <a:prstGeom prst="ellipse">
            <a:avLst/>
          </a:prstGeom>
          <a:solidFill>
            <a:srgbClr val="0E7C6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3653028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474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371600" y="3822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00400" y="3621024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AF4F1"/>
          </a:solidFill>
          <a:ln w="12700">
            <a:solidFill>
              <a:srgbClr val="D5E7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3200400" y="36210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5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26280" y="34564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Enforcing safety-gate blocks a PR on any tolerance breach; lint+test + nightly live. CI green.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" y="444398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latent false-PASS bugs (zstd .eval container, inverted score polarity) caught only by checking against real tool output — fixed and tested.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0292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Trust Engine · safety-trust-engine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80924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F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2580</Words>
  <Application>Microsoft Office PowerPoint</Application>
  <PresentationFormat>On-screen Show (16:9)</PresentationFormat>
  <Paragraphs>296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Safety &amp; Trust Engine</dc:title>
  <dc:subject>PptxGenJS Presentation</dc:subject>
  <dc:creator>Juan Salvador Huertas Romero</dc:creator>
  <cp:lastModifiedBy>Jan SHR</cp:lastModifiedBy>
  <cp:revision>2</cp:revision>
  <dcterms:created xsi:type="dcterms:W3CDTF">2026-06-12T08:36:40Z</dcterms:created>
  <dcterms:modified xsi:type="dcterms:W3CDTF">2026-07-02T09:29:28Z</dcterms:modified>
</cp:coreProperties>
</file>