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24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two rows of logos: top the three regulators (EU AI Act, DORA, FCA), bottom the three tools (garak, AgentDojo, PyRIT). Land the line: you're probably already doing the red-teaming, you're just not producing the evidence. This is the Phase 5 sequel to the four-phase app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DORA applicable Jan 2025; FCA transition closed Mar 2025; EU AI Act robustness/cybersecurity for high-risk on the same timeline. The shift is from running attacks to operating a control. Pause on 'you're just not producing the evidence.'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W&amp;B framing. The engine we built is the Assess stage of a wider review gate. Saying that out loud keeps us honest: automation does not replace human review or legal sign-off.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Art. 15(4) covers feedback loops; 15(5) is the cybersecurity/adversarial half. Art. 55 reaches systemic-risk GPAI from a second direction. Flag the word 'document' — it pays off on the artifact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before the audience is: CI is continuous assurance between formal TLPT exercises. The third-party point is the one people forget — Bedrock is in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conceptual bridge to the gate. Land the sentence 'impact tolerance is just a maximum attack-success rate' and the architecture feels inevitable.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W&amp;B's toolkit maps NIST AI RMF and EU AI Act onto a shared MIT-based risk taxonomy. Same idea here: one finding, many lenses. Our compliance.py encodes EU AI Act/DORA/FCA; NIST and MIT are the obvious extensions.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garak and PyRIT they may know; AgentDojo is usually the unknown — and it ships as an Inspect eval, so it plugs into the earlier evaluation phases. It was extended by US AISI with UK AISI (verify against current inspect_evals docs).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PyRIT is not new here. Two traps: v0.13 renamed the core abstractions, and the outcome inversion — SUCCESS = refusal detected. This inversion produced Phase 4's headline finding; plant it now, it pays off in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it left to right. A trigger fans out to three independent stages, each emitting findings in one shape — ProbeResult(category, attempts, hits). That normalisation is the quiet hero: the mapper and gate never need to know which tool a finding came from, which makes adding a fourth tool cheap.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 row from an FCA self-assessment next to the DEFAULT_TOLERANCES dict — same concept, one prose, one enforced. Override per run with --fail-under category=rate.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one Control literal and the not_evidenced branch. Then the payoff for Art. 55: the artifact this produces is the documentation the regulation asks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W&amp;B's review gate is Intake, Scope, Assess, Probe, Decide. We automate Assess. Being explicit about what is NOT automated — intake, risk scoping, human probing — is what makes the talk credible to a governance audience.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non-zero exit land before explaining it. A failing demo is the point — the gate is doing its job. Then open the Markdown artifact: cat .safety_outputs/st-*.md. The arc: Phase 4 found a subtle failure by hand; Phase 5 catches it and documents it automatically.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W&amp;B's point: a decision package, not a score. Our Markdown artifact is the lightweight version and doubles as an FCA self-assessment. Position Weave as the production upgrade path for the evidence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 → Pre-deploy → Production is the W&amp;B three-stage view. We own the middle. The feedback loop and the Bedrock port are the concrete next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takeaway 2: your regulator does not want your scan, they want your gate. Then Q&amp;A — keep to five minutes, offer to continue offline. Resources: the repo docs plus the W&amp;B e-book the governance framing came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35240" y="411480"/>
            <a:ext cx="109728" cy="109728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7872984" y="411480"/>
            <a:ext cx="109728" cy="109728"/>
          </a:xfrm>
          <a:prstGeom prst="ellipse">
            <a:avLst/>
          </a:prstGeom>
          <a:solidFill>
            <a:srgbClr val="2DD4BF">
              <a:alpha val="15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10728" y="411480"/>
            <a:ext cx="109728" cy="109728"/>
          </a:xfrm>
          <a:prstGeom prst="ellipse">
            <a:avLst/>
          </a:prstGeom>
          <a:solidFill>
            <a:srgbClr val="2DD4BF">
              <a:alpha val="20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48472" y="411480"/>
            <a:ext cx="109728" cy="109728"/>
          </a:xfrm>
          <a:prstGeom prst="ellipse">
            <a:avLst/>
          </a:prstGeom>
          <a:solidFill>
            <a:srgbClr val="2DD4BF">
              <a:alpha val="25000"/>
            </a:srgbClr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586216" y="411480"/>
            <a:ext cx="109728" cy="109728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823960" y="411480"/>
            <a:ext cx="109728" cy="109728"/>
          </a:xfrm>
          <a:prstGeom prst="ellipse">
            <a:avLst/>
          </a:prstGeom>
          <a:solidFill>
            <a:srgbClr val="2DD4BF">
              <a:alpha val="15000"/>
            </a:srgbClr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635240" y="649224"/>
            <a:ext cx="109728" cy="109728"/>
          </a:xfrm>
          <a:prstGeom prst="ellipse">
            <a:avLst/>
          </a:prstGeom>
          <a:solidFill>
            <a:srgbClr val="2DD4BF">
              <a:alpha val="15000"/>
            </a:srgbClr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872984" y="649224"/>
            <a:ext cx="109728" cy="109728"/>
          </a:xfrm>
          <a:prstGeom prst="ellipse">
            <a:avLst/>
          </a:prstGeom>
          <a:solidFill>
            <a:srgbClr val="2DD4BF">
              <a:alpha val="20000"/>
            </a:srgbClr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110728" y="649224"/>
            <a:ext cx="109728" cy="109728"/>
          </a:xfrm>
          <a:prstGeom prst="ellipse">
            <a:avLst/>
          </a:prstGeom>
          <a:solidFill>
            <a:srgbClr val="2DD4BF">
              <a:alpha val="25000"/>
            </a:srgbClr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348472" y="649224"/>
            <a:ext cx="109728" cy="109728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586216" y="649224"/>
            <a:ext cx="109728" cy="109728"/>
          </a:xfrm>
          <a:prstGeom prst="ellipse">
            <a:avLst/>
          </a:prstGeom>
          <a:solidFill>
            <a:srgbClr val="2DD4BF">
              <a:alpha val="15000"/>
            </a:srgbClr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823960" y="649224"/>
            <a:ext cx="109728" cy="109728"/>
          </a:xfrm>
          <a:prstGeom prst="ellipse">
            <a:avLst/>
          </a:prstGeom>
          <a:solidFill>
            <a:srgbClr val="2DD4BF">
              <a:alpha val="20000"/>
            </a:srgbClr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635240" y="886968"/>
            <a:ext cx="109728" cy="109728"/>
          </a:xfrm>
          <a:prstGeom prst="ellipse">
            <a:avLst/>
          </a:prstGeom>
          <a:solidFill>
            <a:srgbClr val="2DD4BF">
              <a:alpha val="20000"/>
            </a:srgbClr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872984" y="886968"/>
            <a:ext cx="109728" cy="109728"/>
          </a:xfrm>
          <a:prstGeom prst="ellipse">
            <a:avLst/>
          </a:prstGeom>
          <a:solidFill>
            <a:srgbClr val="2DD4BF">
              <a:alpha val="25000"/>
            </a:srgbClr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110728" y="886968"/>
            <a:ext cx="109728" cy="109728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348472" y="886968"/>
            <a:ext cx="109728" cy="109728"/>
          </a:xfrm>
          <a:prstGeom prst="ellipse">
            <a:avLst/>
          </a:prstGeom>
          <a:solidFill>
            <a:srgbClr val="2DD4BF">
              <a:alpha val="15000"/>
            </a:srgbClr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586216" y="886968"/>
            <a:ext cx="109728" cy="109728"/>
          </a:xfrm>
          <a:prstGeom prst="ellipse">
            <a:avLst/>
          </a:prstGeom>
          <a:solidFill>
            <a:srgbClr val="2DD4BF">
              <a:alpha val="20000"/>
            </a:srgbClr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823960" y="886968"/>
            <a:ext cx="109728" cy="109728"/>
          </a:xfrm>
          <a:prstGeom prst="ellipse">
            <a:avLst/>
          </a:prstGeom>
          <a:solidFill>
            <a:srgbClr val="2DD4BF">
              <a:alpha val="25000"/>
            </a:srgbClr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635240" y="1124712"/>
            <a:ext cx="109728" cy="109728"/>
          </a:xfrm>
          <a:prstGeom prst="ellipse">
            <a:avLst/>
          </a:prstGeom>
          <a:solidFill>
            <a:srgbClr val="2DD4BF">
              <a:alpha val="25000"/>
            </a:srgbClr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872984" y="1124712"/>
            <a:ext cx="109728" cy="109728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110728" y="1124712"/>
            <a:ext cx="109728" cy="109728"/>
          </a:xfrm>
          <a:prstGeom prst="ellipse">
            <a:avLst/>
          </a:prstGeom>
          <a:solidFill>
            <a:srgbClr val="2DD4BF">
              <a:alpha val="15000"/>
            </a:srgbClr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348472" y="1124712"/>
            <a:ext cx="109728" cy="109728"/>
          </a:xfrm>
          <a:prstGeom prst="ellipse">
            <a:avLst/>
          </a:prstGeom>
          <a:solidFill>
            <a:srgbClr val="2DD4BF">
              <a:alpha val="20000"/>
            </a:srgbClr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586216" y="1124712"/>
            <a:ext cx="109728" cy="109728"/>
          </a:xfrm>
          <a:prstGeom prst="ellipse">
            <a:avLst/>
          </a:prstGeom>
          <a:solidFill>
            <a:srgbClr val="2DD4BF">
              <a:alpha val="25000"/>
            </a:srgbClr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823960" y="1124712"/>
            <a:ext cx="109728" cy="109728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502920" y="1417320"/>
            <a:ext cx="822960" cy="822960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655064"/>
            <a:ext cx="347472" cy="347472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502920" y="23957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ENGINE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502920" y="2670048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Safety &amp; Trust Engine</a:t>
            </a:r>
            <a:endParaRPr lang="en-US" sz="4000" dirty="0"/>
          </a:p>
        </p:txBody>
      </p:sp>
      <p:sp>
        <p:nvSpPr>
          <p:cNvPr id="30" name="Text 27"/>
          <p:cNvSpPr/>
          <p:nvPr/>
        </p:nvSpPr>
        <p:spPr>
          <a:xfrm>
            <a:off x="502920" y="358444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red-teaming as a compliance gate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02920" y="40782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garak · AgentDojo · PyRIT</a:t>
            </a:r>
            <a:pPr indent="0" marL="0">
              <a:buNone/>
            </a:pPr>
            <a:r>
              <a:rPr lang="en-US" sz="12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</a:t>
            </a:r>
            <a:pPr indent="0" marL="0">
              <a:buNone/>
            </a:pPr>
            <a:r>
              <a:rPr lang="en-US" sz="12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 · DORA · FCA Operational Resilience</a:t>
            </a:r>
            <a:endParaRPr lang="en-US" sz="1250" dirty="0"/>
          </a:p>
        </p:txBody>
      </p:sp>
      <p:sp>
        <p:nvSpPr>
          <p:cNvPr id="32" name="Text 29"/>
          <p:cNvSpPr/>
          <p:nvPr/>
        </p:nvSpPr>
        <p:spPr>
          <a:xfrm>
            <a:off x="502920" y="45720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Juan Salvador Huertas Romero — Senior AI/ML Engineer · 45-minute technical session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sx="100000" sy="100000" kx="0" ky="0" algn="bl" rotWithShape="0" blurRad="63500" dist="25400" dir="5400000">
              <a:srgbClr val="0B2E29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· WHY NOW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Adversarial testing became a legal obligation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417320"/>
            <a:ext cx="2587752" cy="1554480"/>
          </a:xfrm>
          <a:prstGeom prst="roundRect">
            <a:avLst>
              <a:gd name="adj" fmla="val 470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704088" y="1591056"/>
            <a:ext cx="21854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Jan 2025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704088" y="2139696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04088" y="2414016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applicable across EU financial entities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73552" y="1417320"/>
            <a:ext cx="2587752" cy="1554480"/>
          </a:xfrm>
          <a:prstGeom prst="roundRect">
            <a:avLst>
              <a:gd name="adj" fmla="val 470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3474720" y="1591056"/>
            <a:ext cx="21854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 Mar 2025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3474720" y="2139696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FCA PS21/3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474720" y="2414016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operational-resilience transition period closed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044184" y="1417320"/>
            <a:ext cx="2587752" cy="1554480"/>
          </a:xfrm>
          <a:prstGeom prst="roundRect">
            <a:avLst>
              <a:gd name="adj" fmla="val 470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245352" y="1591056"/>
            <a:ext cx="21854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Art. 15 / 55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6245352" y="2139696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245352" y="2414016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robustness, cybersecurity &amp; documented red-teaming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02920" y="3200400"/>
            <a:ext cx="8138160" cy="1298448"/>
          </a:xfrm>
          <a:prstGeom prst="roundRect">
            <a:avLst>
              <a:gd name="adj" fmla="val 5634"/>
            </a:avLst>
          </a:prstGeom>
          <a:solidFill>
            <a:srgbClr val="0B2E29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777240" y="3346704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regulators, one shared demand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777240" y="3657600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testing that is repeatable, evidenced, and remediated. Most teams already run the attacks — a notebook, a one-off run, a screenshot. None of that is evidence. The gap this engine closes is turning red-teaming into something you can prove, on every commit.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sx="100000" sy="100000" kx="0" ky="0" algn="bl" rotWithShape="0" blurRad="63500" dist="25400" dir="5400000">
              <a:srgbClr val="0B2E29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MODEL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one-off scan to a review gate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02920" y="13716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one-off red-team is a photograph. Compliance needs a CCTV feed — a review gate that connects three things into one durable record: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1965960"/>
            <a:ext cx="2587752" cy="1874520"/>
          </a:xfrm>
          <a:prstGeom prst="roundRect">
            <a:avLst>
              <a:gd name="adj" fmla="val 39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704088" y="2157984"/>
            <a:ext cx="457200" cy="457200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" y="2263140"/>
            <a:ext cx="246888" cy="2468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04088" y="2743200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evidence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704088" y="3035808"/>
            <a:ext cx="2185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probes, scores and traces — the inputs, outputs and results behind each finding.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3273552" y="1965960"/>
            <a:ext cx="2587752" cy="1874520"/>
          </a:xfrm>
          <a:prstGeom prst="roundRect">
            <a:avLst>
              <a:gd name="adj" fmla="val 39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3474720" y="2157984"/>
            <a:ext cx="457200" cy="457200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9876" y="2263140"/>
            <a:ext cx="246888" cy="24688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474720" y="2743200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judgment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474720" y="3035808"/>
            <a:ext cx="2185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domain expert can probe the same system and pin concerning behaviour as a finding.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044184" y="1965960"/>
            <a:ext cx="2587752" cy="1874520"/>
          </a:xfrm>
          <a:prstGeom prst="roundRect">
            <a:avLst>
              <a:gd name="adj" fmla="val 39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8" name="Shape 13"/>
          <p:cNvSpPr/>
          <p:nvPr/>
        </p:nvSpPr>
        <p:spPr>
          <a:xfrm>
            <a:off x="6245352" y="2157984"/>
            <a:ext cx="457200" cy="457200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508" y="2263140"/>
            <a:ext cx="246888" cy="24688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245352" y="2743200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record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6245352" y="3035808"/>
            <a:ext cx="2185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reject, or request changes — with rationale, remediation and evidence links.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502920" y="40782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engine is the automated heart of that gate — extracted from the app's Phase 5 into its own standalone repo.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502920" y="4443984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 adapted from Weights &amp; Biases — “Governance workflows for AI agents.”</a:t>
            </a:r>
            <a:endParaRPr lang="en-US" sz="850" dirty="0"/>
          </a:p>
        </p:txBody>
      </p:sp>
      <p:sp>
        <p:nvSpPr>
          <p:cNvPr id="24" name="Text 18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25" name="Text 19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sx="100000" sy="100000" kx="0" ky="0" algn="bl" rotWithShape="0" blurRad="63500" dist="25400" dir="5400000">
              <a:srgbClr val="0B2E29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BACKDROP · 1 OF 3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 AI Act — Article 15 (and 55)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67512" y="1618488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667512" y="161848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15(1)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2148840" y="155448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Appropriate accuracy, robustness and cybersecurity, consistent across the lifecycle.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2359152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7512" y="2514600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67512" y="2514600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15(5)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2148840" y="2450592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 against unauthorised third parties exploiting vulnerabilities — incl. data poisoning and adversarial inputs.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3255264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667512" y="3410712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67512" y="3410712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55(1)(a)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2148840" y="3346704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GPAI with systemic risk must conduct and document adversarial testing (red-teaming).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02920" y="4187952"/>
            <a:ext cx="8138160" cy="502920"/>
          </a:xfrm>
          <a:prstGeom prst="rect">
            <a:avLst/>
          </a:prstGeom>
          <a:solidFill>
            <a:srgbClr val="0B2E29"/>
          </a:solidFill>
          <a:ln/>
        </p:spPr>
        <p:txBody>
          <a:bodyPr wrap="square" lIns="1524" tIns="1524" rIns="1524" bIns="1524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translation:  </a:t>
            </a:r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“document” is the hook — our evidence artifact is that documentation.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sx="100000" sy="100000" kx="0" ky="0" algn="bl" rotWithShape="0" blurRad="63500" dist="25400" dir="5400000">
              <a:srgbClr val="0B2E29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BACKDROP · 2 OF 3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DORA — testing and third-party pillars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67512" y="1618488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667512" y="161848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24–25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2148840" y="155448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 resilience testing: vulnerability assessments, independent testers, all critical tools tested ≥ annually.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2359152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7512" y="2514600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67512" y="2514600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26–27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2148840" y="2450592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Threat-led penetration testing (TLPT) ≥ every 3 years, simulating real-world threat actors.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3255264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667512" y="3410712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67512" y="3410712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28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2148840" y="3346704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ICT third-party risk — AWS Bedrock is an ICT third party, in scope of testing and the register.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02920" y="4187952"/>
            <a:ext cx="8138160" cy="502920"/>
          </a:xfrm>
          <a:prstGeom prst="rect">
            <a:avLst/>
          </a:prstGeom>
          <a:solidFill>
            <a:srgbClr val="0B2E29"/>
          </a:solidFill>
          <a:ln/>
        </p:spPr>
        <p:txBody>
          <a:bodyPr wrap="square" lIns="1524" tIns="1524" rIns="1524" bIns="1524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translation:  </a:t>
            </a:r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nightly CI run is continuous assurance — not a substitute for formal TLPT.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sx="100000" sy="100000" kx="0" ky="0" algn="bl" rotWithShape="0" blurRad="63500" dist="25400" dir="5400000">
              <a:srgbClr val="0B2E29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BACKDROP · 3 OF 3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FCA PS21/3 — operational resilience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67512" y="1618488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667512" y="161848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business service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2148840" y="155448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is a dependency of an important business service whose disruption can cause intolerable harm.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2359152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7512" y="2514600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67512" y="2514600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tolerance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2148840" y="2450592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maximum tolerable disruption — tested under severe-but-plausible scenarios.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3255264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667512" y="3410712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67512" y="3410712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Self-assessment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2148840" y="3346704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record evidencing resilience and remediation.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02920" y="4187952"/>
            <a:ext cx="8138160" cy="502920"/>
          </a:xfrm>
          <a:prstGeom prst="rect">
            <a:avLst/>
          </a:prstGeom>
          <a:solidFill>
            <a:srgbClr val="0B2E29"/>
          </a:solidFill>
          <a:ln/>
        </p:spPr>
        <p:txBody>
          <a:bodyPr wrap="square" lIns="1524" tIns="1524" rIns="1524" bIns="1524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translation:  </a:t>
            </a:r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tolerance is just a maximum acceptable attack-success rate.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sx="100000" sy="100000" kx="0" ky="0" algn="bl" rotWithShape="0" blurRad="63500" dist="25400" dir="5400000">
              <a:srgbClr val="0B2E29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MAPPING PRINCIPLE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set of evidence, multiple regulatory lenses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02920" y="13716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red-team finding is mapped to a control. The same finding can satisfy several regimes at once — you gather evidence once and read it through multiple lenses.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154680" y="2148840"/>
            <a:ext cx="2834640" cy="658368"/>
          </a:xfrm>
          <a:prstGeom prst="roundRect">
            <a:avLst>
              <a:gd name="adj" fmla="val 11111"/>
            </a:avLst>
          </a:prstGeom>
          <a:solidFill>
            <a:srgbClr val="0B2E29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3154680" y="214884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prompt-injection probe → hit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 flipH="1">
            <a:off x="1298448" y="2807208"/>
            <a:ext cx="3273552" cy="393192"/>
          </a:xfrm>
          <a:prstGeom prst="line">
            <a:avLst/>
          </a:prstGeom>
          <a:noFill/>
          <a:ln w="1905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539496" y="320040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539496" y="3310128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39496" y="3602736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6B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Art. 15(5)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 flipH="1">
            <a:off x="2935224" y="2807208"/>
            <a:ext cx="1636776" cy="393192"/>
          </a:xfrm>
          <a:prstGeom prst="line">
            <a:avLst/>
          </a:prstGeom>
          <a:noFill/>
          <a:ln w="1905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2176272" y="320040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2176272" y="3310128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2176272" y="3602736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6B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Art. 24–25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0" y="2807208"/>
            <a:ext cx="0" cy="393192"/>
          </a:xfrm>
          <a:prstGeom prst="line">
            <a:avLst/>
          </a:prstGeom>
          <a:noFill/>
          <a:ln w="1905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3813048" y="320040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3813048" y="3310128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FCA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3813048" y="3602736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6B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Impact tolerance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572000" y="2807208"/>
            <a:ext cx="1636776" cy="393192"/>
          </a:xfrm>
          <a:prstGeom prst="line">
            <a:avLst/>
          </a:prstGeom>
          <a:noFill/>
          <a:ln w="1905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5449824" y="320040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5449824" y="3310128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35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449824" y="3602736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6B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 2.7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572000" y="2807208"/>
            <a:ext cx="3273552" cy="393192"/>
          </a:xfrm>
          <a:prstGeom prst="line">
            <a:avLst/>
          </a:prstGeom>
          <a:noFill/>
          <a:ln w="1905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26" name="Shape 23"/>
          <p:cNvSpPr/>
          <p:nvPr/>
        </p:nvSpPr>
        <p:spPr>
          <a:xfrm>
            <a:off x="7086600" y="320040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7086600" y="3310128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35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AI Risk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7086600" y="3602736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6B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Misuse / security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02920" y="42611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code today: </a:t>
            </a:r>
            <a:pPr indent="0" marL="0">
              <a:buNone/>
            </a:pPr>
            <a:r>
              <a:rPr lang="en-US" sz="115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 · DORA · FCA.  </a:t>
            </a:r>
            <a:pPr indent="0" marL="0"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 and the MIT AI Risk Repository are the natural next lenses.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502920" y="4535424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 adapted from Weights &amp; Biases — “Governance workflows for AI agents.”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sx="100000" sy="100000" kx="0" ky="0" algn="bl" rotWithShape="0" blurRad="63500" dist="25400" dir="5400000">
              <a:srgbClr val="0B2E29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TOOLKIT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red-team libraries, three blind spots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444752"/>
            <a:ext cx="8138160" cy="841248"/>
          </a:xfrm>
          <a:prstGeom prst="roundRect">
            <a:avLst>
              <a:gd name="adj" fmla="val 869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609344"/>
            <a:ext cx="512064" cy="512064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" y="1732788"/>
            <a:ext cx="265176" cy="26517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15544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garak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371600" y="1901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3200400" y="1700784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3200400" y="170078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Single-turn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4526280" y="153619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endpoint scanning — the pre-deploy “nmap for LLMs.”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02920" y="2404872"/>
            <a:ext cx="8138160" cy="841248"/>
          </a:xfrm>
          <a:prstGeom prst="roundRect">
            <a:avLst>
              <a:gd name="adj" fmla="val 869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685800" y="2569464"/>
            <a:ext cx="512064" cy="512064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" y="2692908"/>
            <a:ext cx="265176" cy="265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251460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AgentDojo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1371600" y="286207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eval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3200400" y="2660904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/>
          <p:nvPr/>
        </p:nvSpPr>
        <p:spPr>
          <a:xfrm>
            <a:off x="3200400" y="266090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Tool-aware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4526280" y="249631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through untrusted tool data — the agent-specific threat.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02920" y="3364992"/>
            <a:ext cx="8138160" cy="841248"/>
          </a:xfrm>
          <a:prstGeom prst="roundRect">
            <a:avLst>
              <a:gd name="adj" fmla="val 869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685800" y="3529584"/>
            <a:ext cx="512064" cy="512064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" y="3653028"/>
            <a:ext cx="265176" cy="26517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371600" y="3474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PyRIT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1371600" y="38221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3200400" y="3621024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28" name="Text 22"/>
          <p:cNvSpPr/>
          <p:nvPr/>
        </p:nvSpPr>
        <p:spPr>
          <a:xfrm>
            <a:off x="3200400" y="362102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4526280" y="345643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Orchestrated, stateful attack campaigns — decoupled; red-team an agent via an injected target.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02920" y="4443984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passes a garak scan can still be hijacked through a tool result, or coerced over several turns. No single tool is enough.</a:t>
            </a:r>
            <a:endParaRPr lang="en-US" sz="1150" dirty="0"/>
          </a:p>
        </p:txBody>
      </p:sp>
      <p:sp>
        <p:nvSpPr>
          <p:cNvPr id="31" name="Text 25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32" name="Text 26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sx="100000" sy="100000" kx="0" ky="0" algn="bl" rotWithShape="0" blurRad="63500" dist="25400" dir="5400000">
              <a:srgbClr val="0B2E29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ALREADY OWN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PyRIT carry-over, decoupled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3931920" cy="2697480"/>
          </a:xfrm>
          <a:prstGeom prst="roundRect">
            <a:avLst>
              <a:gd name="adj" fmla="val 271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731520" y="16276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Reused wholesale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1956816"/>
            <a:ext cx="3520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AgentFrameworkTarget(PromptTarget)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~20 lines of PyRIT-specific code we own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PromptSendingAttack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by SelfAskRefusalScorer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a target_factory to red-team any agent — the rest is unchanged.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709160" y="1463040"/>
            <a:ext cx="3931920" cy="2697480"/>
          </a:xfrm>
          <a:prstGeom prst="roundRect">
            <a:avLst>
              <a:gd name="adj" fmla="val 2712"/>
            </a:avLst>
          </a:prstGeom>
          <a:solidFill>
            <a:srgbClr val="0B2E29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937760" y="1682496"/>
            <a:ext cx="457200" cy="457200"/>
          </a:xfrm>
          <a:prstGeom prst="ellipse">
            <a:avLst/>
          </a:prstGeom>
          <a:solidFill>
            <a:srgbClr val="C98A22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4937760" y="1682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5486400" y="17556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trap that carries over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937760" y="2331720"/>
            <a:ext cx="3520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SelfAskRefusalScorer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means the refusal was detected.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agent behaving well — not a jailbreak.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i="1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normalises a “hit” as a non-refusal.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sx="100000" sy="100000" kx="0" ky="0" algn="bl" rotWithShape="0" blurRad="63500" dist="25400" dir="5400000">
              <a:srgbClr val="0B2E29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RUNS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Architecture: stages → mapper → gate</a:t>
            </a:r>
            <a:endParaRPr lang="en-US" sz="2700" dirty="0"/>
          </a:p>
        </p:txBody>
      </p:sp>
      <p:pic>
        <p:nvPicPr>
          <p:cNvPr id="6" name="Image 1" descr="/home/claude/deck/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8046720" cy="30175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sx="100000" sy="100000" kx="0" ky="0" algn="bl" rotWithShape="0" blurRad="63500" dist="25400" dir="5400000">
              <a:srgbClr val="0B2E29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tolerance, made numeric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02920" y="13716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probe category carries a maximum acceptable attack-success rate (ASR). The build fails if any category exceeds it — stricter where the blast radius is larger.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02920" y="233172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FCA impact tolerance</a:t>
            </a:r>
            <a:endParaRPr lang="en-US" sz="1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4F6B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 attack-success rate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02920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…the same control, executable in CI.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40680" y="112471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5F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DEFAULT_TOLERANCES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40680" y="1417320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5605272" y="1417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harmful_action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891272" y="1490472"/>
            <a:ext cx="585216" cy="310896"/>
          </a:xfrm>
          <a:prstGeom prst="roundRect">
            <a:avLst>
              <a:gd name="adj" fmla="val 14706"/>
            </a:avLst>
          </a:prstGeom>
          <a:solidFill>
            <a:srgbClr val="BE4A42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7891272" y="149047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40680" y="1911096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5605272" y="191109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tool_injection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891272" y="1984248"/>
            <a:ext cx="585216" cy="310896"/>
          </a:xfrm>
          <a:prstGeom prst="roundRect">
            <a:avLst>
              <a:gd name="adj" fmla="val 14706"/>
            </a:avLst>
          </a:prstGeom>
          <a:solidFill>
            <a:srgbClr val="BE4A42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7891272" y="1984248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40680" y="2404872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605272" y="240487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data_leakage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891272" y="2478024"/>
            <a:ext cx="585216" cy="310896"/>
          </a:xfrm>
          <a:prstGeom prst="roundRect">
            <a:avLst>
              <a:gd name="adj" fmla="val 14706"/>
            </a:avLst>
          </a:prstGeom>
          <a:solidFill>
            <a:srgbClr val="BE4A42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7891272" y="2478024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440680" y="2898648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5605272" y="28986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891272" y="2971800"/>
            <a:ext cx="585216" cy="310896"/>
          </a:xfrm>
          <a:prstGeom prst="roundRect">
            <a:avLst>
              <a:gd name="adj" fmla="val 14706"/>
            </a:avLst>
          </a:prstGeom>
          <a:solidFill>
            <a:srgbClr val="0E7C66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7891272" y="2971800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440680" y="3392424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5605272" y="339242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prompt_injection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891272" y="3465576"/>
            <a:ext cx="585216" cy="310896"/>
          </a:xfrm>
          <a:prstGeom prst="roundRect">
            <a:avLst>
              <a:gd name="adj" fmla="val 14706"/>
            </a:avLst>
          </a:prstGeom>
          <a:solidFill>
            <a:srgbClr val="0E7C66"/>
          </a:solidFill>
          <a:ln/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7891272" y="3465576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40680" y="3886200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5605272" y="3886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toxicity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891272" y="3959352"/>
            <a:ext cx="585216" cy="310896"/>
          </a:xfrm>
          <a:prstGeom prst="roundRect">
            <a:avLst>
              <a:gd name="adj" fmla="val 14706"/>
            </a:avLst>
          </a:prstGeom>
          <a:solidFill>
            <a:srgbClr val="0E7C66"/>
          </a:solidFill>
          <a:ln/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7891272" y="395935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sx="100000" sy="100000" kx="0" ky="0" algn="bl" rotWithShape="0" blurRad="63500" dist="25400" dir="5400000">
              <a:srgbClr val="0B2E29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mapping in code — compliance.py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4800600" cy="2788920"/>
          </a:xfrm>
          <a:prstGeom prst="roundRect">
            <a:avLst>
              <a:gd name="adj" fmla="val 2623"/>
            </a:avLst>
          </a:prstGeom>
          <a:solidFill>
            <a:srgbClr val="0B2E29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758952" y="1664208"/>
            <a:ext cx="4480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Control(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regulation="EU AI Act",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ref="Art. 15(5)",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stages=(GARAK, AGENTDOJO, PYRIT),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categories=("prompt_injection",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"tool_injection", "jailbreak"),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577840" y="1463040"/>
            <a:ext cx="3063240" cy="804672"/>
          </a:xfrm>
          <a:prstGeom prst="roundRect">
            <a:avLst>
              <a:gd name="adj" fmla="val 9091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760720" y="1645920"/>
            <a:ext cx="420624" cy="420624"/>
          </a:xfrm>
          <a:prstGeom prst="ellipse">
            <a:avLst/>
          </a:prstGeom>
          <a:solidFill>
            <a:srgbClr val="2E9A66"/>
          </a:solidFill>
          <a:ln/>
        </p:spPr>
        <p:txBody>
          <a:bodyPr/>
          <a:p/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732" y="1741932"/>
            <a:ext cx="228600" cy="228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327648" y="153619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every evidencing stage ran and stayed within tolerance.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577840" y="2377440"/>
            <a:ext cx="3063240" cy="804672"/>
          </a:xfrm>
          <a:prstGeom prst="roundRect">
            <a:avLst>
              <a:gd name="adj" fmla="val 9091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5760720" y="2560320"/>
            <a:ext cx="420624" cy="420624"/>
          </a:xfrm>
          <a:prstGeom prst="ellipse">
            <a:avLst/>
          </a:prstGeom>
          <a:solidFill>
            <a:srgbClr val="C98A22"/>
          </a:solidFill>
          <a:ln/>
        </p:spPr>
        <p:txBody>
          <a:bodyPr/>
          <a:p/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6732" y="2656332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27648" y="245059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not_evidenced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stage was skipped — never silently “pass.”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577840" y="3291840"/>
            <a:ext cx="3063240" cy="960120"/>
          </a:xfrm>
          <a:prstGeom prst="roundRect">
            <a:avLst>
              <a:gd name="adj" fmla="val 7619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Text 12"/>
          <p:cNvSpPr/>
          <p:nvPr/>
        </p:nvSpPr>
        <p:spPr>
          <a:xfrm>
            <a:off x="5779008" y="3419856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Phase-3 guard, again: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 you didn’t test must never render as one you passed.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19" name="Text 14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sx="100000" sy="100000" kx="0" ky="0" algn="bl" rotWithShape="0" blurRad="63500" dist="25400" dir="5400000">
              <a:srgbClr val="0B2E29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ENGINE SITS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five-stage review gate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39496" y="1783080"/>
            <a:ext cx="1481328" cy="1371600"/>
          </a:xfrm>
          <a:prstGeom prst="roundRect">
            <a:avLst>
              <a:gd name="adj" fmla="val 5333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1042416" y="1965960"/>
            <a:ext cx="475488" cy="475488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042416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39496" y="25146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94360" y="27889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profile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2020824" y="2468880"/>
            <a:ext cx="164592" cy="0"/>
          </a:xfrm>
          <a:prstGeom prst="line">
            <a:avLst/>
          </a:prstGeom>
          <a:noFill/>
          <a:ln w="25400">
            <a:solidFill>
              <a:srgbClr val="D5E7E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2185416" y="1783080"/>
            <a:ext cx="1481328" cy="1371600"/>
          </a:xfrm>
          <a:prstGeom prst="roundRect">
            <a:avLst>
              <a:gd name="adj" fmla="val 5333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2688336" y="1965960"/>
            <a:ext cx="475488" cy="475488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2688336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2185416" y="25146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2240280" y="27889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tier · datasets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666744" y="2468880"/>
            <a:ext cx="164592" cy="0"/>
          </a:xfrm>
          <a:prstGeom prst="line">
            <a:avLst/>
          </a:prstGeom>
          <a:noFill/>
          <a:ln w="25400">
            <a:solidFill>
              <a:srgbClr val="D5E7E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3831336" y="1783080"/>
            <a:ext cx="1481328" cy="1371600"/>
          </a:xfrm>
          <a:prstGeom prst="roundRect">
            <a:avLst>
              <a:gd name="adj" fmla="val 5333"/>
            </a:avLst>
          </a:prstGeom>
          <a:solidFill>
            <a:srgbClr val="0E7C6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4334256" y="1965960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4334256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3831336" y="25146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3886200" y="27889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1F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probes · scorers · policy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312664" y="2468880"/>
            <a:ext cx="164592" cy="0"/>
          </a:xfrm>
          <a:prstGeom prst="line">
            <a:avLst/>
          </a:prstGeom>
          <a:noFill/>
          <a:ln w="25400">
            <a:solidFill>
              <a:srgbClr val="D5E7E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5477256" y="1783080"/>
            <a:ext cx="1481328" cy="1371600"/>
          </a:xfrm>
          <a:prstGeom prst="roundRect">
            <a:avLst>
              <a:gd name="adj" fmla="val 5333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5980176" y="1965960"/>
            <a:ext cx="475488" cy="475488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5980176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5477256" y="25146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532120" y="27889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reviewer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6958584" y="2468880"/>
            <a:ext cx="164592" cy="0"/>
          </a:xfrm>
          <a:prstGeom prst="line">
            <a:avLst/>
          </a:prstGeom>
          <a:noFill/>
          <a:ln w="25400">
            <a:solidFill>
              <a:srgbClr val="D5E7E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0" name="Shape 27"/>
          <p:cNvSpPr/>
          <p:nvPr/>
        </p:nvSpPr>
        <p:spPr>
          <a:xfrm>
            <a:off x="7123176" y="1783080"/>
            <a:ext cx="1481328" cy="1371600"/>
          </a:xfrm>
          <a:prstGeom prst="roundRect">
            <a:avLst>
              <a:gd name="adj" fmla="val 5333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7626096" y="1965960"/>
            <a:ext cx="475488" cy="475488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7626096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7123176" y="25146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7178040" y="27889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record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502920" y="3456432"/>
            <a:ext cx="8138160" cy="841248"/>
          </a:xfrm>
          <a:prstGeom prst="roundRect">
            <a:avLst>
              <a:gd name="adj" fmla="val 8696"/>
            </a:avLst>
          </a:prstGeom>
          <a:solidFill>
            <a:srgbClr val="0B2E29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777240" y="3456432"/>
            <a:ext cx="7589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engine automates stage 3 (Assess) and feeds stage 5 (Decide).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Intake, Scope and human Probe are the governance wrapper around it — people and policy, not code.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502920" y="4370832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 adapted from Weights &amp; Biases — “Governance workflows for AI agents.”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E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2BB89A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gate blocks a merge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5074920" cy="3291840"/>
          </a:xfrm>
          <a:prstGeom prst="roundRect">
            <a:avLst>
              <a:gd name="adj" fmla="val 1667"/>
            </a:avLst>
          </a:prstGeom>
          <a:solidFill>
            <a:srgbClr val="07211D"/>
          </a:solidFill>
          <a:ln w="12700">
            <a:solidFill>
              <a:srgbClr val="0B5F4F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731520" y="1481328"/>
            <a:ext cx="4663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uv run safety-engine --demo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CC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[garak    ] ran: 5 probes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CC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[agentdojo] ran: 4 probes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CC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[pyrit    ] ran: 4 probes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Impact tolerance gate: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E9A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[ok  ] data_leakage      5%  (tol 5%)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E9A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[ok  ] jailbreak         5%  (tol 10%)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[FAIL] prompt_injection 15%  (tol 10%)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[FAIL] tool_injection   13%  (tol 5%)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0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Overall: FAIL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CC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exit 1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532120" y="13716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finding, brought forward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532120" y="1755648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failing category is prompt_injection — the same delayed-compliance case a human would surface only by hand: the agent refuses, then appends an override to a tool argument.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532120" y="30632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finds it once. </a:t>
            </a:r>
            <a:pPr indent="0" marL="0">
              <a:lnSpc>
                <a:spcPct val="110000"/>
              </a:lnSpc>
              <a:buNone/>
            </a:pPr>
            <a:r>
              <a:rPr lang="en-US" sz="1300" b="1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catches it for you — and proves you caught it.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sx="100000" sy="100000" kx="0" ky="0" algn="bl" rotWithShape="0" blurRad="63500" dist="25400" dir="5400000">
              <a:srgbClr val="0B2E29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as a decision package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02920" y="13716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is not just pass or fail. Each run writes a decision package the app team can act on and the governance team can revisit.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" y="1938528"/>
            <a:ext cx="1947672" cy="1234440"/>
          </a:xfrm>
          <a:prstGeom prst="roundRect">
            <a:avLst>
              <a:gd name="adj" fmla="val 592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649224" y="2084832"/>
            <a:ext cx="1655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9224" y="2468880"/>
            <a:ext cx="1655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· request changes · reject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569464" y="1938528"/>
            <a:ext cx="1947672" cy="1234440"/>
          </a:xfrm>
          <a:prstGeom prst="roundRect">
            <a:avLst>
              <a:gd name="adj" fmla="val 592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2715768" y="2084832"/>
            <a:ext cx="1655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Per-category gate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715768" y="2468880"/>
            <a:ext cx="1655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ASR vs tolerance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636008" y="1938528"/>
            <a:ext cx="1947672" cy="1234440"/>
          </a:xfrm>
          <a:prstGeom prst="roundRect">
            <a:avLst>
              <a:gd name="adj" fmla="val 592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782312" y="2084832"/>
            <a:ext cx="1655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782312" y="2468880"/>
            <a:ext cx="1655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status per regime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702552" y="1938528"/>
            <a:ext cx="1947672" cy="1234440"/>
          </a:xfrm>
          <a:prstGeom prst="roundRect">
            <a:avLst>
              <a:gd name="adj" fmla="val 592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6848856" y="2084832"/>
            <a:ext cx="1655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848856" y="2468880"/>
            <a:ext cx="1655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breaching controls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3346704"/>
            <a:ext cx="8138160" cy="1024128"/>
          </a:xfrm>
          <a:prstGeom prst="roundRect">
            <a:avLst>
              <a:gd name="adj" fmla="val 7143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777240" y="3346704"/>
            <a:ext cx="75895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</a:t>
            </a:r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versioned JSON + Markdown artifact in runs/.   </a:t>
            </a:r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scale: </a:t>
            </a:r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of record like W&amp;B Weave — traces, scorer evidence, release comparisons and production monitoring in one place.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02920" y="4425696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 adapted from Weights &amp; Biases — “Governance workflows for AI agents.”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sx="100000" sy="100000" kx="0" ky="0" algn="bl" rotWithShape="0" blurRad="63500" dist="25400" dir="5400000">
              <a:srgbClr val="0B2E29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goes next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60020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02920" y="1801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Development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2920" y="22037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+ traces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2971800" y="2125980"/>
            <a:ext cx="365760" cy="0"/>
          </a:xfrm>
          <a:prstGeom prst="line">
            <a:avLst/>
          </a:prstGeom>
          <a:noFill/>
          <a:ln w="31750">
            <a:solidFill>
              <a:srgbClr val="D5E7E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3337560" y="160020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0E7C6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3337560" y="1801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Pre-deployment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3337560" y="22037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1F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(today)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806440" y="2125980"/>
            <a:ext cx="365760" cy="0"/>
          </a:xfrm>
          <a:prstGeom prst="line">
            <a:avLst/>
          </a:prstGeom>
          <a:noFill/>
          <a:ln w="31750">
            <a:solidFill>
              <a:srgbClr val="D5E7E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6172200" y="160020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172200" y="1801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172200" y="22037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+ drift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02920" y="27889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traces feed back as new evaluation rows, new probes, and triggers for reassessment — the same evidence loop, running after deployment.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02920" y="3383280"/>
            <a:ext cx="2587752" cy="1143000"/>
          </a:xfrm>
          <a:prstGeom prst="roundRect">
            <a:avLst>
              <a:gd name="adj" fmla="val 64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685800" y="3547872"/>
            <a:ext cx="402336" cy="402336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" y="3625596"/>
            <a:ext cx="228600" cy="22860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216152" y="3529584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target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685800" y="3950208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provider to PYRIT_BUILDABLE_PROVIDERS or inject a target_factory; only the LIVE SEAM changes.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3273552" y="3383280"/>
            <a:ext cx="2587752" cy="1143000"/>
          </a:xfrm>
          <a:prstGeom prst="roundRect">
            <a:avLst>
              <a:gd name="adj" fmla="val 64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4" name="Shape 20"/>
          <p:cNvSpPr/>
          <p:nvPr/>
        </p:nvSpPr>
        <p:spPr>
          <a:xfrm>
            <a:off x="3456432" y="3547872"/>
            <a:ext cx="402336" cy="402336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444" y="3625596"/>
            <a:ext cx="228600" cy="22860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3986784" y="3529584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probe stage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3456432" y="3950208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reviewer-pinned findings to the decision record.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6044184" y="3383280"/>
            <a:ext cx="2587752" cy="1143000"/>
          </a:xfrm>
          <a:prstGeom prst="roundRect">
            <a:avLst>
              <a:gd name="adj" fmla="val 64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9" name="Shape 24"/>
          <p:cNvSpPr/>
          <p:nvPr/>
        </p:nvSpPr>
        <p:spPr>
          <a:xfrm>
            <a:off x="6227064" y="3547872"/>
            <a:ext cx="402336" cy="402336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3076" y="3625596"/>
            <a:ext cx="228600" cy="22860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6757416" y="3529584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lenses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6227064" y="3950208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NIST AI RMF and MIT AI Risk categories into the mapper.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34" name="Text 28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2E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4023360"/>
            <a:ext cx="109728" cy="109728"/>
          </a:xfrm>
          <a:prstGeom prst="ellipse">
            <a:avLst/>
          </a:prstGeom>
          <a:solidFill>
            <a:srgbClr val="2DD4B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57784" y="4023360"/>
            <a:ext cx="109728" cy="109728"/>
          </a:xfrm>
          <a:prstGeom prst="ellipse">
            <a:avLst/>
          </a:prstGeom>
          <a:solidFill>
            <a:srgbClr val="2DD4BF">
              <a:alpha val="13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795528" y="4023360"/>
            <a:ext cx="109728" cy="109728"/>
          </a:xfrm>
          <a:prstGeom prst="ellipse">
            <a:avLst/>
          </a:prstGeom>
          <a:solidFill>
            <a:srgbClr val="2DD4BF">
              <a:alpha val="18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33272" y="4023360"/>
            <a:ext cx="109728" cy="109728"/>
          </a:xfrm>
          <a:prstGeom prst="ellipse">
            <a:avLst/>
          </a:prstGeom>
          <a:solidFill>
            <a:srgbClr val="2DD4BF">
              <a:alpha val="23000"/>
            </a:srgbClr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271016" y="4023360"/>
            <a:ext cx="109728" cy="109728"/>
          </a:xfrm>
          <a:prstGeom prst="ellipse">
            <a:avLst/>
          </a:prstGeom>
          <a:solidFill>
            <a:srgbClr val="2DD4BF">
              <a:alpha val="8000"/>
            </a:srgbClr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08760" y="4023360"/>
            <a:ext cx="109728" cy="109728"/>
          </a:xfrm>
          <a:prstGeom prst="ellipse">
            <a:avLst/>
          </a:prstGeom>
          <a:solidFill>
            <a:srgbClr val="2DD4BF">
              <a:alpha val="13000"/>
            </a:srgbClr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320040" y="4261104"/>
            <a:ext cx="109728" cy="109728"/>
          </a:xfrm>
          <a:prstGeom prst="ellipse">
            <a:avLst/>
          </a:prstGeom>
          <a:solidFill>
            <a:srgbClr val="2DD4BF">
              <a:alpha val="13000"/>
            </a:srgbClr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57784" y="4261104"/>
            <a:ext cx="109728" cy="109728"/>
          </a:xfrm>
          <a:prstGeom prst="ellipse">
            <a:avLst/>
          </a:prstGeom>
          <a:solidFill>
            <a:srgbClr val="2DD4BF">
              <a:alpha val="18000"/>
            </a:srgbClr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95528" y="4261104"/>
            <a:ext cx="109728" cy="109728"/>
          </a:xfrm>
          <a:prstGeom prst="ellipse">
            <a:avLst/>
          </a:prstGeom>
          <a:solidFill>
            <a:srgbClr val="2DD4BF">
              <a:alpha val="23000"/>
            </a:srgbClr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033272" y="4261104"/>
            <a:ext cx="109728" cy="109728"/>
          </a:xfrm>
          <a:prstGeom prst="ellipse">
            <a:avLst/>
          </a:prstGeom>
          <a:solidFill>
            <a:srgbClr val="2DD4BF">
              <a:alpha val="8000"/>
            </a:srgbClr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271016" y="4261104"/>
            <a:ext cx="109728" cy="109728"/>
          </a:xfrm>
          <a:prstGeom prst="ellipse">
            <a:avLst/>
          </a:prstGeom>
          <a:solidFill>
            <a:srgbClr val="2DD4BF">
              <a:alpha val="13000"/>
            </a:srgbClr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508760" y="4261104"/>
            <a:ext cx="109728" cy="109728"/>
          </a:xfrm>
          <a:prstGeom prst="ellipse">
            <a:avLst/>
          </a:prstGeom>
          <a:solidFill>
            <a:srgbClr val="2DD4BF">
              <a:alpha val="18000"/>
            </a:srgbClr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20040" y="4498848"/>
            <a:ext cx="109728" cy="109728"/>
          </a:xfrm>
          <a:prstGeom prst="ellipse">
            <a:avLst/>
          </a:prstGeom>
          <a:solidFill>
            <a:srgbClr val="2DD4BF">
              <a:alpha val="18000"/>
            </a:srgbClr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57784" y="4498848"/>
            <a:ext cx="109728" cy="109728"/>
          </a:xfrm>
          <a:prstGeom prst="ellipse">
            <a:avLst/>
          </a:prstGeom>
          <a:solidFill>
            <a:srgbClr val="2DD4BF">
              <a:alpha val="23000"/>
            </a:srgbClr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95528" y="4498848"/>
            <a:ext cx="109728" cy="109728"/>
          </a:xfrm>
          <a:prstGeom prst="ellipse">
            <a:avLst/>
          </a:prstGeom>
          <a:solidFill>
            <a:srgbClr val="2DD4BF">
              <a:alpha val="8000"/>
            </a:srgbClr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033272" y="4498848"/>
            <a:ext cx="109728" cy="109728"/>
          </a:xfrm>
          <a:prstGeom prst="ellipse">
            <a:avLst/>
          </a:prstGeom>
          <a:solidFill>
            <a:srgbClr val="2DD4BF">
              <a:alpha val="13000"/>
            </a:srgbClr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271016" y="4498848"/>
            <a:ext cx="109728" cy="109728"/>
          </a:xfrm>
          <a:prstGeom prst="ellipse">
            <a:avLst/>
          </a:prstGeom>
          <a:solidFill>
            <a:srgbClr val="2DD4BF">
              <a:alpha val="18000"/>
            </a:srgbClr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508760" y="4498848"/>
            <a:ext cx="109728" cy="109728"/>
          </a:xfrm>
          <a:prstGeom prst="ellipse">
            <a:avLst/>
          </a:prstGeom>
          <a:solidFill>
            <a:srgbClr val="2DD4BF">
              <a:alpha val="23000"/>
            </a:srgbClr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320040" y="4736592"/>
            <a:ext cx="109728" cy="109728"/>
          </a:xfrm>
          <a:prstGeom prst="ellipse">
            <a:avLst/>
          </a:prstGeom>
          <a:solidFill>
            <a:srgbClr val="2DD4BF">
              <a:alpha val="23000"/>
            </a:srgbClr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557784" y="4736592"/>
            <a:ext cx="109728" cy="109728"/>
          </a:xfrm>
          <a:prstGeom prst="ellipse">
            <a:avLst/>
          </a:prstGeom>
          <a:solidFill>
            <a:srgbClr val="2DD4BF">
              <a:alpha val="8000"/>
            </a:srgbClr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95528" y="4736592"/>
            <a:ext cx="109728" cy="109728"/>
          </a:xfrm>
          <a:prstGeom prst="ellipse">
            <a:avLst/>
          </a:prstGeom>
          <a:solidFill>
            <a:srgbClr val="2DD4BF">
              <a:alpha val="13000"/>
            </a:srgbClr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033272" y="4736592"/>
            <a:ext cx="109728" cy="109728"/>
          </a:xfrm>
          <a:prstGeom prst="ellipse">
            <a:avLst/>
          </a:prstGeom>
          <a:solidFill>
            <a:srgbClr val="2DD4BF">
              <a:alpha val="18000"/>
            </a:srgbClr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271016" y="4736592"/>
            <a:ext cx="109728" cy="109728"/>
          </a:xfrm>
          <a:prstGeom prst="ellipse">
            <a:avLst/>
          </a:prstGeom>
          <a:solidFill>
            <a:srgbClr val="2DD4BF">
              <a:alpha val="23000"/>
            </a:srgbClr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508760" y="4736592"/>
            <a:ext cx="109728" cy="109728"/>
          </a:xfrm>
          <a:prstGeom prst="ellipse">
            <a:avLst/>
          </a:prstGeom>
          <a:solidFill>
            <a:srgbClr val="2DD4BF">
              <a:alpha val="8000"/>
            </a:srgbClr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0292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TAKEAWAYS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914400"/>
            <a:ext cx="548640" cy="548640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02920" y="914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1252728" y="8686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Red-teaming is now regulated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252728" y="1197864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Act, DORA and FCA all demand repeatable, documented adversarial testing — one control, three vocabularies.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02920" y="1847088"/>
            <a:ext cx="548640" cy="548640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02920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1252728" y="180136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gate, not the scan, is the deliverable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1252728" y="213055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scan produces findings; an engine produces a verdict, an audit artifact, and a remediation list.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02920" y="2779776"/>
            <a:ext cx="548640" cy="548640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502920" y="27797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1252728" y="2734056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tools, three blind spots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1252728" y="306324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garak for breadth, AgentDojo for tool injection, PyRIT for multi-turn — each catches what the others miss.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02920" y="3822192"/>
            <a:ext cx="8138160" cy="0"/>
          </a:xfrm>
          <a:prstGeom prst="line">
            <a:avLst/>
          </a:prstGeom>
          <a:noFill/>
          <a:ln w="12700">
            <a:solidFill>
              <a:srgbClr val="0B5F4F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502920" y="39684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  </a:t>
            </a:r>
            <a:pPr indent="0" marL="0">
              <a:buNone/>
            </a:pPr>
            <a:r>
              <a:rPr lang="en-US" sz="10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· docs/REGULATORY_RESEARCH.md · docs/pipeline.svg · docs/safety_trust_engine_cicd_pipeline.svg · .github/workflows/safety-trust.yml · docs/HANDOVER.md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02920" y="45262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Juan Salvador Huertas Romero — Senior AI/ML Engineer        Questions?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sx="100000" sy="100000" kx="0" ky="0" algn="bl" rotWithShape="0" blurRad="63500" dist="25400" dir="5400000">
              <a:srgbClr val="0B2E29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LIVE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now runs end-to-end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444752"/>
            <a:ext cx="8138160" cy="841248"/>
          </a:xfrm>
          <a:prstGeom prst="roundRect">
            <a:avLst>
              <a:gd name="adj" fmla="val 869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609344"/>
            <a:ext cx="512064" cy="512064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" y="1732788"/>
            <a:ext cx="265176" cy="26517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15544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Azure garak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371600" y="1901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sidecar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3200400" y="1700784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3200400" y="170078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engine= routing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4526280" y="153619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filter blocks DAN (jailbreak 0%); base64 bypasses ~60% → gate FAIL.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02920" y="2404872"/>
            <a:ext cx="8138160" cy="841248"/>
          </a:xfrm>
          <a:prstGeom prst="roundRect">
            <a:avLst>
              <a:gd name="adj" fmla="val 869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685800" y="2569464"/>
            <a:ext cx="512064" cy="512064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" y="2692908"/>
            <a:ext cx="265176" cy="265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251460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AgentDojo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1371600" y="286207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eval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3200400" y="2660904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/>
          <p:nvPr/>
        </p:nvSpPr>
        <p:spPr>
          <a:xfrm>
            <a:off x="3200400" y="266090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+ ingest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4526280" y="249631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injection_task_scorer parsed from a real .eval; ingest pre-run logs via --agentdojo-logs.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02920" y="3364992"/>
            <a:ext cx="8138160" cy="841248"/>
          </a:xfrm>
          <a:prstGeom prst="roundRect">
            <a:avLst>
              <a:gd name="adj" fmla="val 869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685800" y="3529584"/>
            <a:ext cx="512064" cy="512064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" y="3653028"/>
            <a:ext cx="265176" cy="26517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371600" y="3474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1371600" y="38221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3200400" y="3621024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28" name="Text 22"/>
          <p:cNvSpPr/>
          <p:nvPr/>
        </p:nvSpPr>
        <p:spPr>
          <a:xfrm>
            <a:off x="3200400" y="362102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4526280" y="345643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lint-and-test + demo-gate on every push; nightly live job. Repo pushed, CI green.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02920" y="4443984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latent false-PASS bugs (zstd .eval container, inverted score polarity) caught only by checking against real tool output — fixed and tested.</a:t>
            </a:r>
            <a:endParaRPr lang="en-US" sz="1150" dirty="0"/>
          </a:p>
        </p:txBody>
      </p:sp>
      <p:sp>
        <p:nvSpPr>
          <p:cNvPr id="31" name="Text 25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32" name="Text 26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 Safety &amp; Trust Engine</dc:title>
  <dc:subject>PptxGenJS Presentation</dc:subject>
  <dc:creator>Juan Salvador Huertas Romero</dc:creator>
  <cp:lastModifiedBy>Juan Salvador Huertas Romero</cp:lastModifiedBy>
  <cp:revision>1</cp:revision>
  <dcterms:created xsi:type="dcterms:W3CDTF">2026-06-12T08:36:40Z</dcterms:created>
  <dcterms:modified xsi:type="dcterms:W3CDTF">2026-06-12T08:36:40Z</dcterms:modified>
</cp:coreProperties>
</file>